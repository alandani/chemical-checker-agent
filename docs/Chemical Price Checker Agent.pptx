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7" r:id="rId3"/>
    <p:sldId id="257" r:id="rId4"/>
    <p:sldId id="274" r:id="rId5"/>
    <p:sldId id="275" r:id="rId6"/>
    <p:sldId id="270" r:id="rId7"/>
    <p:sldId id="271" r:id="rId8"/>
    <p:sldId id="272" r:id="rId9"/>
    <p:sldId id="273" r:id="rId10"/>
    <p:sldId id="277" r:id="rId11"/>
    <p:sldId id="279" r:id="rId12"/>
    <p:sldId id="280" r:id="rId13"/>
    <p:sldId id="281" r:id="rId14"/>
    <p:sldId id="284" r:id="rId15"/>
    <p:sldId id="285" r:id="rId16"/>
    <p:sldId id="283" r:id="rId17"/>
    <p:sldId id="260" r:id="rId18"/>
    <p:sldId id="262" r:id="rId19"/>
    <p:sldId id="263" r:id="rId20"/>
    <p:sldId id="264" r:id="rId21"/>
    <p:sldId id="265" r:id="rId22"/>
    <p:sldId id="266" r:id="rId23"/>
    <p:sldId id="286" r:id="rId24"/>
    <p:sldId id="26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D212F-4916-4B64-A543-54F806C6AC51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5209B-41C4-47E4-B357-8E7D28AF72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049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5209B-41C4-47E4-B357-8E7D28AF722F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9162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5209B-41C4-47E4-B357-8E7D28AF722F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0158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E871-FB5E-BE8D-DCDB-4FA498A6B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D4519-E440-DC05-26CB-4F109A8BA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01C77-D0DF-1539-B291-3F214BE2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A4869-5DD0-3127-1AE2-B80CAFE7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D7A29-6D8F-0FE8-4959-2759296C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479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B69B-25C7-02E8-9E7C-FF75B8C15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9062-043D-F0C6-9E96-4457FC287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45744-34D1-9E61-DE6F-4C42DED59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87623-A069-B6C7-45C5-0C21C4CC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33829-912C-EB45-4D7B-9BA61B93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4461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D6BA-0359-B42B-C6B3-0711F101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00533-6F9A-7D5E-7DDA-7F968D67C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2370C-4A17-107A-6418-EBEF790D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3547B-33DC-8EAF-56B1-3DEC21BF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C8805-E11C-4B16-1DAC-D84AFD61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37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B3FD-214B-3F60-0C1D-C63DAB83A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65C8D-35B4-1E1D-5F9F-5DEA96D17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5F0D4-C6A1-25AE-6FAC-1928E7A1C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92BE3-A6D4-F806-95ED-5560D420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04398-689D-4900-F2A2-54927417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254E3-9588-63B7-10DF-C49ECF82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332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2425-D7BE-8C7B-7E42-69ED9A19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B7F5C-0BF9-CCF4-0C21-52FAED20A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4E6FA-C53E-FD47-6BE8-BE8BCCA18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F7226-A09D-D0FB-83BF-ECF2ACE08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0F7F1-BA30-0595-E688-4F7CA0C29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00A58D-5733-6A4F-7B97-20309589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B3E88-3C95-277B-A516-87EF0367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AFC0B6-8ED3-5622-6929-9C85E407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2340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D5B26-1603-F39B-3086-3A77EF87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F3B4A4-FFDB-E073-B252-31ACF221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8B4C9-FE03-F05E-B527-9342ABF4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AF583-8BC5-9799-E2C6-C03AC530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028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E05B9-07F1-AFA5-098D-60F9DF8D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369402-D229-BBB8-1325-D69AE6957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E8778-22A6-9378-0493-8A3BFF24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414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29F6-7969-D505-46F9-12EB6916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D249C-5910-26D7-6AE7-2804F0AE3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D7A2E-087A-8AD9-ECD2-99A86F671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3BD27-A06E-0A5E-FBF5-00B07ECCF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CB5AF-FD85-D373-7103-FDCF1A4E4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9C9FB-7BD5-BEFD-C2EC-BD6C20B5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317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0800C-BDE4-05D7-9E02-C689EF95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B50A0-FAE5-DCCC-47F3-E23338978B8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4B800-89F8-F686-E8DA-1B7E53C27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07C14-3867-4724-55B4-923F4E9E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B9BFF-426B-5E08-321D-892FC6DFC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85A12-AACB-733F-0562-2FC367C2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61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A9E7-815A-0268-26C8-C19568B7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964AC-5E8F-0124-A502-C441E194F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A20C-6875-3126-53E7-52EB04DAF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0A88E-0D16-A4A4-CC59-70165312A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45DD6-DDCB-DD50-7B3E-2C012A90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506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01A52B-A4B0-5A1F-368F-AD76857B5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6A746-B7CF-7D33-9CB4-CE017C0DE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29BFE-FA97-1B22-096F-805EDD24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12CFB-2BFC-F7FD-E2C4-970BAF8B8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B2FA8-958B-A5CA-7022-714B6CFC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66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A8F95-461A-943F-24EF-FD45258C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9AF4D-74CA-A1E6-0A6B-CF0B16723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DDA87-8C0E-C4B4-4668-BF4CE4ECC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06614-E87D-44B0-AB8A-D92DF785151E}" type="datetimeFigureOut">
              <a:rPr lang="en-ID" smtClean="0"/>
              <a:t>18/10/2026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8DF69-0BE8-4380-F329-0F870E2BC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4EDB6-9CA2-228A-AB0A-849AD3FA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8DD76-15C3-4166-9787-9079BE8A4F6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1270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labchem-wako.fujifilm.com/asia/index.html" TargetMode="External"/><Relationship Id="rId3" Type="http://schemas.openxmlformats.org/officeDocument/2006/relationships/hyperlink" Target="https://www.thermofisher.com/au/en/home/order.html?cid=ANZ_CBU_CO_0SE_GAW_NT_shop-all-products-extension_7012t000000Lg4H&amp;gad_source=1&amp;gad_campaignid=19714051334&amp;gclid=CjwKCAjwuczWBhA9EiwAYGgEobcxV6vJeRO-mDbtb8N0BKZjO2YhKWL5waKKVhT-e_4Xg_zJOaBSFxoCkIoQAvD_BwE#chemicals" TargetMode="External"/><Relationship Id="rId7" Type="http://schemas.openxmlformats.org/officeDocument/2006/relationships/hyperlink" Target="https://www.accelachem.cn/product/customized-services" TargetMode="External"/><Relationship Id="rId12" Type="http://schemas.openxmlformats.org/officeDocument/2006/relationships/hyperlink" Target="https://www.3asenrise.com/front/index.htm" TargetMode="External"/><Relationship Id="rId2" Type="http://schemas.openxmlformats.org/officeDocument/2006/relationships/hyperlink" Target="https://www.sigmaaldrich.com/AU/en/products/chemistry-and-biochemicals#produc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ldpharm.com/" TargetMode="External"/><Relationship Id="rId11" Type="http://schemas.openxmlformats.org/officeDocument/2006/relationships/hyperlink" Target="https://www.fishersci.com/us/en/brands/I9C8M4ZU/spex-certiprep.html" TargetMode="External"/><Relationship Id="rId5" Type="http://schemas.openxmlformats.org/officeDocument/2006/relationships/hyperlink" Target="https://www.selleck.au/" TargetMode="External"/><Relationship Id="rId10" Type="http://schemas.openxmlformats.org/officeDocument/2006/relationships/hyperlink" Target="https://www.medchemexpress.com/" TargetMode="External"/><Relationship Id="rId4" Type="http://schemas.openxmlformats.org/officeDocument/2006/relationships/hyperlink" Target="https://enaminestore.com/categories" TargetMode="External"/><Relationship Id="rId9" Type="http://schemas.openxmlformats.org/officeDocument/2006/relationships/hyperlink" Target="https://www.biosynth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sigmaaldrich.com/AU/en/products/chemistry-and-biochemicals#product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thermofisher.com/au/en/home/order.html?cid=ANZ_CBU_CO_0SE_GAW_NT_shop-all-products-extension_7012t000000Lg4H&amp;gad_source=1&amp;gad_campaignid=19714051334&amp;gclid=CjwKCAjwuczWBhA9EiwAYGgEobcxV6vJeRO-mDbtb8N0BKZjO2YhKWL5waKKVhT-e_4Xg_zJOaBSFxoCkIoQAvD_BwE#chemical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naminestore.com/categori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selleck.a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bldpharm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accelachem.cn/product/customized-servic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abchem-wako.fujifilm.com/asia/index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biosynth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medchemexpres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fishersci.com/us/en/brands/I9C8M4ZU/spex-certiprep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3asenrise.com/front/index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BFFE0-D83E-DE9A-FFF4-F4F6DD824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0033"/>
            <a:ext cx="9144000" cy="2387600"/>
          </a:xfrm>
        </p:spPr>
        <p:txBody>
          <a:bodyPr/>
          <a:lstStyle/>
          <a:p>
            <a:r>
              <a:rPr lang="en-US" b="1"/>
              <a:t>Prototype for Chemical Price Checker Agent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1338654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C836-4B7A-FA3D-F411-CDCB6619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525" y="1887794"/>
            <a:ext cx="3900948" cy="960386"/>
          </a:xfrm>
        </p:spPr>
        <p:txBody>
          <a:bodyPr>
            <a:normAutofit/>
          </a:bodyPr>
          <a:lstStyle/>
          <a:p>
            <a:pPr algn="ctr"/>
            <a:r>
              <a:rPr lang="en-US" sz="5400" b="1"/>
              <a:t>Goal</a:t>
            </a:r>
            <a:endParaRPr lang="en-ID" sz="5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203E6-6216-5CA9-017A-40302530C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137" y="2936670"/>
            <a:ext cx="7489723" cy="1325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/>
              <a:t>Streamlit interface to perform the proposed workflow</a:t>
            </a:r>
            <a:endParaRPr lang="en-ID" sz="4000"/>
          </a:p>
        </p:txBody>
      </p:sp>
    </p:spTree>
    <p:extLst>
      <p:ext uri="{BB962C8B-B14F-4D97-AF65-F5344CB8AC3E}">
        <p14:creationId xmlns:p14="http://schemas.microsoft.com/office/powerpoint/2010/main" val="400851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E6FFB3-736E-4583-AD97-477276DF16D1}"/>
              </a:ext>
            </a:extLst>
          </p:cNvPr>
          <p:cNvSpPr/>
          <p:nvPr/>
        </p:nvSpPr>
        <p:spPr>
          <a:xfrm>
            <a:off x="732491" y="884901"/>
            <a:ext cx="1268361" cy="688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Input</a:t>
            </a:r>
            <a:endParaRPr lang="en-ID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66C557-EA60-6AB0-8E5C-47CD8401A139}"/>
              </a:ext>
            </a:extLst>
          </p:cNvPr>
          <p:cNvSpPr/>
          <p:nvPr/>
        </p:nvSpPr>
        <p:spPr>
          <a:xfrm>
            <a:off x="3185652" y="875070"/>
            <a:ext cx="2861188" cy="688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Web scraper (Price)</a:t>
            </a:r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0F85D-21E7-474C-B0C8-0E0AFB38D0F6}"/>
              </a:ext>
            </a:extLst>
          </p:cNvPr>
          <p:cNvSpPr txBox="1"/>
          <p:nvPr/>
        </p:nvSpPr>
        <p:spPr>
          <a:xfrm>
            <a:off x="732491" y="1705106"/>
            <a:ext cx="1858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Chemical Structures</a:t>
            </a:r>
          </a:p>
          <a:p>
            <a:pPr marL="285750" indent="-285750">
              <a:buFontTx/>
              <a:buChar char="-"/>
            </a:pPr>
            <a:r>
              <a:rPr lang="en-US"/>
              <a:t>Research Budget</a:t>
            </a:r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F8EE9-45D4-C655-4914-CA23882E79BF}"/>
              </a:ext>
            </a:extLst>
          </p:cNvPr>
          <p:cNvSpPr txBox="1"/>
          <p:nvPr/>
        </p:nvSpPr>
        <p:spPr>
          <a:xfrm>
            <a:off x="6184492" y="926828"/>
            <a:ext cx="4606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Does this compound already available in the market? If so, how much?</a:t>
            </a:r>
            <a:endParaRPr lang="en-ID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8F7641-B57D-2E41-01EE-8D5E80B3B336}"/>
              </a:ext>
            </a:extLst>
          </p:cNvPr>
          <p:cNvSpPr/>
          <p:nvPr/>
        </p:nvSpPr>
        <p:spPr>
          <a:xfrm>
            <a:off x="3185650" y="1946783"/>
            <a:ext cx="2861185" cy="1165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Web scraper + Database of synthesis method / web scraper for synthesis method</a:t>
            </a:r>
            <a:endParaRPr lang="en-ID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843B40-B796-A8FF-2606-29E49E4A3FE7}"/>
              </a:ext>
            </a:extLst>
          </p:cNvPr>
          <p:cNvCxnSpPr>
            <a:cxnSpLocks/>
            <a:stCxn id="4" idx="2"/>
            <a:endCxn id="33" idx="0"/>
          </p:cNvCxnSpPr>
          <p:nvPr/>
        </p:nvCxnSpPr>
        <p:spPr>
          <a:xfrm flipH="1">
            <a:off x="4616243" y="1563328"/>
            <a:ext cx="3" cy="383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9C0038D-6DE9-8244-6613-11798D96AA7E}"/>
              </a:ext>
            </a:extLst>
          </p:cNvPr>
          <p:cNvSpPr txBox="1"/>
          <p:nvPr/>
        </p:nvSpPr>
        <p:spPr>
          <a:xfrm>
            <a:off x="6184494" y="2067680"/>
            <a:ext cx="4606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Is there a well established way to synthesis the compound? If yes, get the materials and calculate the price.</a:t>
            </a:r>
            <a:endParaRPr lang="en-ID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DED822-B1C4-89C8-C1FA-1B3FDA09D708}"/>
              </a:ext>
            </a:extLst>
          </p:cNvPr>
          <p:cNvSpPr/>
          <p:nvPr/>
        </p:nvSpPr>
        <p:spPr>
          <a:xfrm>
            <a:off x="3185652" y="3551902"/>
            <a:ext cx="2861185" cy="1369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Web scraper + synthesis method AI prediction (Retro Chimera / LLM based model)</a:t>
            </a:r>
            <a:endParaRPr lang="en-ID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C58F450-1AC1-0301-97FF-3419D1BCA5E6}"/>
              </a:ext>
            </a:extLst>
          </p:cNvPr>
          <p:cNvCxnSpPr>
            <a:cxnSpLocks/>
            <a:stCxn id="33" idx="2"/>
            <a:endCxn id="40" idx="0"/>
          </p:cNvCxnSpPr>
          <p:nvPr/>
        </p:nvCxnSpPr>
        <p:spPr>
          <a:xfrm>
            <a:off x="4616243" y="3111907"/>
            <a:ext cx="2" cy="439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5ABE360-A2E9-6CDD-A2A7-529A78BB87D6}"/>
              </a:ext>
            </a:extLst>
          </p:cNvPr>
          <p:cNvSpPr txBox="1"/>
          <p:nvPr/>
        </p:nvSpPr>
        <p:spPr>
          <a:xfrm>
            <a:off x="6184494" y="3774808"/>
            <a:ext cx="4606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If there isn’t a well established way, we can use AI to predict it. Get the materials. Calculate the price.</a:t>
            </a:r>
            <a:endParaRPr lang="en-ID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BBB3D1-D03F-3EA5-05A6-C3D02F8BF694}"/>
              </a:ext>
            </a:extLst>
          </p:cNvPr>
          <p:cNvSpPr txBox="1"/>
          <p:nvPr/>
        </p:nvSpPr>
        <p:spPr>
          <a:xfrm>
            <a:off x="6341811" y="5441759"/>
            <a:ext cx="4606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Useful for:</a:t>
            </a:r>
          </a:p>
          <a:p>
            <a:pPr marL="285750" indent="-285750">
              <a:buFontTx/>
              <a:buChar char="-"/>
            </a:pPr>
            <a:r>
              <a:rPr lang="en-US"/>
              <a:t>Experimental cost approximation</a:t>
            </a:r>
          </a:p>
          <a:p>
            <a:pPr marL="285750" indent="-285750">
              <a:buFontTx/>
              <a:buChar char="-"/>
            </a:pPr>
            <a:r>
              <a:rPr lang="en-US"/>
              <a:t>Grant planning</a:t>
            </a:r>
          </a:p>
          <a:p>
            <a:pPr marL="285750" indent="-285750">
              <a:buFontTx/>
              <a:buChar char="-"/>
            </a:pPr>
            <a:r>
              <a:rPr lang="en-US"/>
              <a:t>Manufacturing planning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58E240-5230-A02C-E80E-2300A3A782CC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2000852" y="1219199"/>
            <a:ext cx="1184800" cy="9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6" name="Picture 85">
            <a:extLst>
              <a:ext uri="{FF2B5EF4-FFF2-40B4-BE49-F238E27FC236}">
                <a16:creationId xmlns:a16="http://schemas.microsoft.com/office/drawing/2014/main" id="{A3DBB213-EAE2-2A97-E74F-017B5FF74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3" y="3244192"/>
            <a:ext cx="1858298" cy="1761763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5BEC52F7-AC4E-E524-42F4-0AB0D6475277}"/>
              </a:ext>
            </a:extLst>
          </p:cNvPr>
          <p:cNvSpPr/>
          <p:nvPr/>
        </p:nvSpPr>
        <p:spPr>
          <a:xfrm>
            <a:off x="3185651" y="5357353"/>
            <a:ext cx="2861185" cy="1369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Output</a:t>
            </a:r>
          </a:p>
          <a:p>
            <a:pPr algn="ctr"/>
            <a:r>
              <a:rPr lang="en-US"/>
              <a:t>Report on whether this compound fits the budget or not + the details on why</a:t>
            </a:r>
            <a:endParaRPr lang="en-ID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2BE655A-9491-123F-8887-82FFF48C9F78}"/>
              </a:ext>
            </a:extLst>
          </p:cNvPr>
          <p:cNvCxnSpPr>
            <a:stCxn id="40" idx="2"/>
            <a:endCxn id="88" idx="0"/>
          </p:cNvCxnSpPr>
          <p:nvPr/>
        </p:nvCxnSpPr>
        <p:spPr>
          <a:xfrm flipH="1">
            <a:off x="4616244" y="4921044"/>
            <a:ext cx="1" cy="436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75B6D14D-880D-E9A5-DF86-BB8B790AF54B}"/>
              </a:ext>
            </a:extLst>
          </p:cNvPr>
          <p:cNvSpPr txBox="1">
            <a:spLocks/>
          </p:cNvSpPr>
          <p:nvPr/>
        </p:nvSpPr>
        <p:spPr>
          <a:xfrm>
            <a:off x="732491" y="220493"/>
            <a:ext cx="10515600" cy="588604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General Workflow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89994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7CF6D-D952-99DB-6DD9-0A330FAC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546"/>
            <a:ext cx="10515600" cy="795081"/>
          </a:xfrm>
        </p:spPr>
        <p:txBody>
          <a:bodyPr/>
          <a:lstStyle/>
          <a:p>
            <a:pPr algn="ctr"/>
            <a:r>
              <a:rPr lang="en-US" b="1"/>
              <a:t>Summary Website Chemical Seller</a:t>
            </a:r>
            <a:endParaRPr lang="en-ID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2EC9F5-5EBA-3251-ABF1-796C7AE99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761151"/>
              </p:ext>
            </p:extLst>
          </p:nvPr>
        </p:nvGraphicFramePr>
        <p:xfrm>
          <a:off x="2628900" y="1203960"/>
          <a:ext cx="693419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076">
                  <a:extLst>
                    <a:ext uri="{9D8B030D-6E8A-4147-A177-3AD203B41FA5}">
                      <a16:colId xmlns:a16="http://schemas.microsoft.com/office/drawing/2014/main" val="507676822"/>
                    </a:ext>
                  </a:extLst>
                </a:gridCol>
                <a:gridCol w="2012540">
                  <a:extLst>
                    <a:ext uri="{9D8B030D-6E8A-4147-A177-3AD203B41FA5}">
                      <a16:colId xmlns:a16="http://schemas.microsoft.com/office/drawing/2014/main" val="2394198186"/>
                    </a:ext>
                  </a:extLst>
                </a:gridCol>
                <a:gridCol w="2899583">
                  <a:extLst>
                    <a:ext uri="{9D8B030D-6E8A-4147-A177-3AD203B41FA5}">
                      <a16:colId xmlns:a16="http://schemas.microsoft.com/office/drawing/2014/main" val="3667129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Nama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Region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Link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6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Sigma-Aldrich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International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hlinkClick r:id="rId2"/>
                        </a:rPr>
                        <a:t>Link to product list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03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ThermoFisher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International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>
                          <a:hlinkClick r:id="rId3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121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Enamine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International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>
                          <a:hlinkClick r:id="rId4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491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Selleck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Australia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>
                          <a:hlinkClick r:id="rId5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864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BLDPharm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China &amp; Inter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>
                          <a:hlinkClick r:id="rId6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925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AccelaChem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China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>
                          <a:hlinkClick r:id="rId7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Wako Fujifilm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Japan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>
                          <a:hlinkClick r:id="rId8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1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BioSynth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Europe (Swiss)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>
                          <a:hlinkClick r:id="rId9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289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MedChemExpress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U.S.A.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>
                          <a:hlinkClick r:id="rId10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963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0"/>
                        <a:t>Spex CertiPrep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U.S.A.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>
                          <a:hlinkClick r:id="rId11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039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3ASenrise</a:t>
                      </a:r>
                      <a:endParaRPr lang="en-ID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China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>
                          <a:hlinkClick r:id="rId12"/>
                        </a:rPr>
                        <a:t>Link to Website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617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59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1EA5F-9179-F350-1181-5A36CFFE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EFE18-8170-B20A-1046-468273A8E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049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(International)</a:t>
            </a:r>
            <a:endParaRPr lang="en-ID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51C9D-C03A-6BF3-2779-EB45B4171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166"/>
            <a:ext cx="3419168" cy="4948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Sigma Aldrich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Link to product list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8C548C-7834-278D-88BD-5AFB021B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315" y="1531375"/>
            <a:ext cx="6211529" cy="363763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11C9EC-4FA6-C4C9-C69F-F6627B13E575}"/>
              </a:ext>
            </a:extLst>
          </p:cNvPr>
          <p:cNvSpPr txBox="1">
            <a:spLocks/>
          </p:cNvSpPr>
          <p:nvPr/>
        </p:nvSpPr>
        <p:spPr>
          <a:xfrm>
            <a:off x="4257368" y="5415834"/>
            <a:ext cx="6619567" cy="8536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Daftar produk di bagian website agak bawah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0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75D9-CC80-050D-11C2-63E9287E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12E3-7DF0-64E8-6A23-D451B599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049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(International)</a:t>
            </a:r>
            <a:endParaRPr lang="en-ID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E9CC-8EC6-A3FD-3B91-4ACC29581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584" y="1065656"/>
            <a:ext cx="6619567" cy="1061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ThermoFisher - </a:t>
            </a:r>
            <a:r>
              <a:rPr lang="en-US">
                <a:hlinkClick r:id="rId2"/>
              </a:rPr>
              <a:t>Link to website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0EC445-5706-F01C-0B22-6BEE8C715761}"/>
              </a:ext>
            </a:extLst>
          </p:cNvPr>
          <p:cNvSpPr txBox="1">
            <a:spLocks/>
          </p:cNvSpPr>
          <p:nvPr/>
        </p:nvSpPr>
        <p:spPr>
          <a:xfrm>
            <a:off x="318319" y="5611284"/>
            <a:ext cx="6619567" cy="8536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Mungkin agak tricky, karena tiap section di chemicals ini tuh daftar produk semua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31B96-C722-7ECC-B6B5-867B92DA6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06" y="1596598"/>
            <a:ext cx="5813367" cy="3575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72E2CA-8D56-1085-63C2-E362E1EAE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63" y="1833569"/>
            <a:ext cx="5623004" cy="3101722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C8D1BB37-65A3-8030-CC87-BABDB6CF7C0E}"/>
              </a:ext>
            </a:extLst>
          </p:cNvPr>
          <p:cNvSpPr/>
          <p:nvPr/>
        </p:nvSpPr>
        <p:spPr>
          <a:xfrm rot="20786978">
            <a:off x="3211630" y="2439145"/>
            <a:ext cx="3341026" cy="29069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587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FA62-614E-7153-6B24-2322F6CA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87172-01E6-8C92-4C60-86E4BD7E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049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(International)</a:t>
            </a:r>
            <a:endParaRPr lang="en-ID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52C9A-04D9-716B-3A91-259E6C17C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584" y="1065656"/>
            <a:ext cx="6619567" cy="1061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Enamine – </a:t>
            </a:r>
            <a:r>
              <a:rPr lang="en-US">
                <a:hlinkClick r:id="rId2"/>
              </a:rPr>
              <a:t>Link to website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E99D3-3BFE-5EED-2DD0-F3DDC92F2C11}"/>
              </a:ext>
            </a:extLst>
          </p:cNvPr>
          <p:cNvSpPr txBox="1">
            <a:spLocks/>
          </p:cNvSpPr>
          <p:nvPr/>
        </p:nvSpPr>
        <p:spPr>
          <a:xfrm>
            <a:off x="318319" y="5942781"/>
            <a:ext cx="6619567" cy="514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Web ini pagesnya bercabang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E3BE2B-6313-63E8-E1D6-CE13AA503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19" y="1858298"/>
            <a:ext cx="5895668" cy="33300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7F1CAB-03AC-C766-814F-6239FE6EA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269" y="3668576"/>
            <a:ext cx="4419161" cy="29374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72BE3F-FC60-91F3-F608-B5EC9F9A5B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583" y="1242328"/>
            <a:ext cx="4816534" cy="224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4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55614-81F4-1E5F-DAAE-E61D0E50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F35F-4E3F-C30E-D579-47C00F775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049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(International)</a:t>
            </a:r>
            <a:endParaRPr lang="en-ID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013C6-627B-D0A0-D76E-727AA6677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584" y="1065656"/>
            <a:ext cx="6619567" cy="1061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Selleck – </a:t>
            </a:r>
            <a:r>
              <a:rPr lang="en-US">
                <a:hlinkClick r:id="rId2"/>
              </a:rPr>
              <a:t>Link to website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C0EA7F1-85AB-7DE2-6634-77D2A94F067E}"/>
              </a:ext>
            </a:extLst>
          </p:cNvPr>
          <p:cNvSpPr txBox="1">
            <a:spLocks/>
          </p:cNvSpPr>
          <p:nvPr/>
        </p:nvSpPr>
        <p:spPr>
          <a:xfrm>
            <a:off x="5303275" y="1051619"/>
            <a:ext cx="6619567" cy="514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Sama, cabangnya banyak juga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9D48C-B7E5-3D25-092D-C432BF1F0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72" y="1720645"/>
            <a:ext cx="6249344" cy="2546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45F349-E432-94D5-8E46-8E16C01EE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76" y="1720645"/>
            <a:ext cx="4761690" cy="247658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D2245AF-C825-3FAF-F3E4-9C0E697E32CF}"/>
              </a:ext>
            </a:extLst>
          </p:cNvPr>
          <p:cNvSpPr/>
          <p:nvPr/>
        </p:nvSpPr>
        <p:spPr>
          <a:xfrm>
            <a:off x="947584" y="1980056"/>
            <a:ext cx="5892792" cy="17626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4CA49A-0026-E5F5-1813-8071679FD2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632" y="4267200"/>
            <a:ext cx="4664323" cy="24115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3312A4-1BDF-18AD-2BD4-487DEBADAF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90" y="4681424"/>
            <a:ext cx="5314910" cy="1783527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23E8EDAF-E311-EB03-020B-1B508AA2B726}"/>
              </a:ext>
            </a:extLst>
          </p:cNvPr>
          <p:cNvSpPr/>
          <p:nvPr/>
        </p:nvSpPr>
        <p:spPr>
          <a:xfrm rot="5400000">
            <a:off x="6144697" y="3676488"/>
            <a:ext cx="1985759" cy="17626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783933B-304B-D34D-F74A-E9FB0E310918}"/>
              </a:ext>
            </a:extLst>
          </p:cNvPr>
          <p:cNvSpPr/>
          <p:nvPr/>
        </p:nvSpPr>
        <p:spPr>
          <a:xfrm rot="11254977">
            <a:off x="4572356" y="5052441"/>
            <a:ext cx="1985759" cy="17626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742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A2ECC-E9EB-6E94-2006-EE26E050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F4E80-A067-3AAF-8BE1-DD1408D0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049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(China)</a:t>
            </a:r>
            <a:endParaRPr lang="en-ID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6256A-7DA1-31C0-CB64-2653BEA57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584" y="1065656"/>
            <a:ext cx="6619567" cy="1061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BLDPharm – </a:t>
            </a:r>
            <a:r>
              <a:rPr lang="en-US">
                <a:hlinkClick r:id="rId2"/>
              </a:rPr>
              <a:t>Link to Website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6A845-B718-275A-DB28-4F3A1DB18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6" y="1887006"/>
            <a:ext cx="5712542" cy="26462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461867-2CBA-3742-A7DC-E0C246918B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30" y="1154506"/>
            <a:ext cx="5498956" cy="264629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0CDE1FD-E5C0-1238-615C-EAAC3C06DDEC}"/>
              </a:ext>
            </a:extLst>
          </p:cNvPr>
          <p:cNvSpPr/>
          <p:nvPr/>
        </p:nvSpPr>
        <p:spPr>
          <a:xfrm>
            <a:off x="1179871" y="2391125"/>
            <a:ext cx="5260259" cy="241319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1807C4-DF2A-5D61-1C43-1D71C3080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130" y="4064388"/>
            <a:ext cx="5667318" cy="259765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2B871BFA-8897-DEDC-5DE8-62712407C536}"/>
              </a:ext>
            </a:extLst>
          </p:cNvPr>
          <p:cNvSpPr/>
          <p:nvPr/>
        </p:nvSpPr>
        <p:spPr>
          <a:xfrm rot="5400000">
            <a:off x="8194475" y="3535408"/>
            <a:ext cx="650353" cy="22614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417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8C8AF-707C-711F-10E9-E9886A53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42A1-3E81-3B31-C873-54D136967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049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(China)</a:t>
            </a:r>
            <a:endParaRPr lang="en-ID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2E2C3-0268-83AB-132A-90848BB0E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584" y="1065656"/>
            <a:ext cx="6619567" cy="1061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AccelaChem – </a:t>
            </a:r>
            <a:r>
              <a:rPr lang="en-US">
                <a:hlinkClick r:id="rId2"/>
              </a:rPr>
              <a:t>Link to Website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3916A-2491-35FF-1CC2-F0E671AC6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84" y="1596598"/>
            <a:ext cx="8285575" cy="406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16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E170-80A5-7433-B618-3D344FB1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BB23-D4AB-3169-E2B9-5C32241B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040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(Japan)</a:t>
            </a:r>
            <a:endParaRPr lang="en-ID" sz="3200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6B648B-D93C-7BA5-EB99-D86A4F741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63993"/>
            <a:ext cx="6095999" cy="3080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BA2295-414C-4A19-C3F5-B80E82CBF3F6}"/>
              </a:ext>
            </a:extLst>
          </p:cNvPr>
          <p:cNvSpPr txBox="1"/>
          <p:nvPr/>
        </p:nvSpPr>
        <p:spPr>
          <a:xfrm>
            <a:off x="838200" y="106574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/>
              <a:t>Wako Fujifilm – </a:t>
            </a:r>
            <a:r>
              <a:rPr lang="en-US" sz="2800">
                <a:hlinkClick r:id="rId3"/>
              </a:rPr>
              <a:t>Link to Website</a:t>
            </a:r>
            <a:endParaRPr lang="en-US" sz="2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502BB0-3A81-5CE1-F248-28B9FC063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47" y="1963993"/>
            <a:ext cx="5088929" cy="225404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693BD62-9C9F-A565-9837-683A5A84606B}"/>
              </a:ext>
            </a:extLst>
          </p:cNvPr>
          <p:cNvSpPr txBox="1">
            <a:spLocks/>
          </p:cNvSpPr>
          <p:nvPr/>
        </p:nvSpPr>
        <p:spPr>
          <a:xfrm>
            <a:off x="6096001" y="5278043"/>
            <a:ext cx="5093110" cy="514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Each of these are compounds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51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3187-BAA7-EE1F-A2A9-A16757E1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236E-0525-C426-9BFA-DF269A105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040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(Switzerland)</a:t>
            </a:r>
            <a:endParaRPr lang="en-ID" sz="32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8188F-198C-D2DE-C28B-F5A1E03803E9}"/>
              </a:ext>
            </a:extLst>
          </p:cNvPr>
          <p:cNvSpPr txBox="1"/>
          <p:nvPr/>
        </p:nvSpPr>
        <p:spPr>
          <a:xfrm>
            <a:off x="838200" y="106574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/>
              <a:t>BioSynth – </a:t>
            </a:r>
            <a:r>
              <a:rPr lang="en-US" sz="2800">
                <a:hlinkClick r:id="rId2"/>
              </a:rPr>
              <a:t>Link to Website</a:t>
            </a: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E25711-5D0D-3821-0B17-5AD68715E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33" y="1560107"/>
            <a:ext cx="6265135" cy="2301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53C5A8-0951-3199-69DE-0BF7F87E9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232" y="4001263"/>
            <a:ext cx="5857568" cy="259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61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7390-1374-33A2-C811-7055634E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2842-2698-228C-A125-1FB972F4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040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(U.S.A.)</a:t>
            </a:r>
            <a:endParaRPr lang="en-ID" sz="32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8A20E-7414-67ED-30FD-E0D1B996B2DC}"/>
              </a:ext>
            </a:extLst>
          </p:cNvPr>
          <p:cNvSpPr txBox="1"/>
          <p:nvPr/>
        </p:nvSpPr>
        <p:spPr>
          <a:xfrm>
            <a:off x="838200" y="106574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/>
              <a:t>MedChemExpress – </a:t>
            </a:r>
            <a:r>
              <a:rPr lang="en-US" sz="2800">
                <a:hlinkClick r:id="rId2"/>
              </a:rPr>
              <a:t>Link to Website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21280-3780-B996-F4B5-707C763EF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43" y="2056597"/>
            <a:ext cx="5426790" cy="2550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3DEB9D-E7F8-04CB-8E45-A5BB768B6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510" y="2160639"/>
            <a:ext cx="6096000" cy="296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4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5A4D-3DF1-32F3-812D-EF448435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0CA8-B10F-D117-E4B0-A80D982C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040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(U.S.A.)</a:t>
            </a:r>
            <a:endParaRPr lang="en-ID" sz="32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254E6-B361-EB00-5544-42D6399CA3B6}"/>
              </a:ext>
            </a:extLst>
          </p:cNvPr>
          <p:cNvSpPr txBox="1"/>
          <p:nvPr/>
        </p:nvSpPr>
        <p:spPr>
          <a:xfrm>
            <a:off x="838200" y="106574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/>
              <a:t>SPEX Certiprep – </a:t>
            </a:r>
            <a:r>
              <a:rPr lang="en-US" sz="2800">
                <a:hlinkClick r:id="rId2"/>
              </a:rPr>
              <a:t>Link to Website</a:t>
            </a: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457AA-9318-DBFD-EF48-EFCF3918F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658" y="1718064"/>
            <a:ext cx="8986684" cy="425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27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4A7D0-2D91-C590-24AB-525570E93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97B6-EEEB-8C03-257C-524825852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040"/>
            <a:ext cx="10515600" cy="588604"/>
          </a:xfrm>
        </p:spPr>
        <p:txBody>
          <a:bodyPr>
            <a:normAutofit/>
          </a:bodyPr>
          <a:lstStyle/>
          <a:p>
            <a:r>
              <a:rPr lang="en-US" sz="3200" b="1"/>
              <a:t>Sumber Data untuk Harga Bahan Kimia (China)</a:t>
            </a:r>
            <a:endParaRPr lang="en-ID" sz="32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20D40C-676E-DC99-2864-A7F848CEB4AB}"/>
              </a:ext>
            </a:extLst>
          </p:cNvPr>
          <p:cNvSpPr txBox="1"/>
          <p:nvPr/>
        </p:nvSpPr>
        <p:spPr>
          <a:xfrm>
            <a:off x="838200" y="106574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/>
              <a:t>3ASenrise – </a:t>
            </a:r>
            <a:r>
              <a:rPr lang="en-US" sz="2800">
                <a:hlinkClick r:id="rId2"/>
              </a:rPr>
              <a:t>Link to Website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ECC2C-C0A8-D1AE-491F-8BD66661F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16" y="1984225"/>
            <a:ext cx="5823884" cy="3302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ACF359-7F3C-959F-EA2F-BE34176F7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4225"/>
            <a:ext cx="5837684" cy="309227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9E51D-564B-3838-345A-A9CB6C61E80D}"/>
              </a:ext>
            </a:extLst>
          </p:cNvPr>
          <p:cNvSpPr txBox="1">
            <a:spLocks/>
          </p:cNvSpPr>
          <p:nvPr/>
        </p:nvSpPr>
        <p:spPr>
          <a:xfrm>
            <a:off x="2786216" y="5609868"/>
            <a:ext cx="6619567" cy="514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/>
              <a:t>Fokus di organic chemistrynya aja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19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4D99-C963-A964-10A7-76027837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1D5A-3687-463C-73C3-844F7077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317" y="2653839"/>
            <a:ext cx="6001365" cy="1550322"/>
          </a:xfrm>
        </p:spPr>
        <p:txBody>
          <a:bodyPr>
            <a:noAutofit/>
          </a:bodyPr>
          <a:lstStyle/>
          <a:p>
            <a:pPr algn="ctr"/>
            <a:r>
              <a:rPr lang="en-US" sz="5400" b="1"/>
              <a:t>Detailed Workflow Description</a:t>
            </a:r>
            <a:endParaRPr lang="en-ID" sz="5400" b="1"/>
          </a:p>
        </p:txBody>
      </p:sp>
    </p:spTree>
    <p:extLst>
      <p:ext uri="{BB962C8B-B14F-4D97-AF65-F5344CB8AC3E}">
        <p14:creationId xmlns:p14="http://schemas.microsoft.com/office/powerpoint/2010/main" val="1216307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54D1-E623-7501-09CC-A54CB303F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9162"/>
            <a:ext cx="10515600" cy="904777"/>
          </a:xfrm>
        </p:spPr>
        <p:txBody>
          <a:bodyPr>
            <a:normAutofit fontScale="90000"/>
          </a:bodyPr>
          <a:lstStyle/>
          <a:p>
            <a:r>
              <a:rPr lang="en-US" b="1"/>
              <a:t>Proses 1:</a:t>
            </a:r>
            <a:br>
              <a:rPr lang="en-US" b="1"/>
            </a:br>
            <a:r>
              <a:rPr lang="en-US" b="1"/>
              <a:t>Input Data Kimia</a:t>
            </a:r>
            <a:endParaRPr lang="en-ID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C2906A-CB6F-89A1-C725-E24554667B3D}"/>
              </a:ext>
            </a:extLst>
          </p:cNvPr>
          <p:cNvSpPr/>
          <p:nvPr/>
        </p:nvSpPr>
        <p:spPr>
          <a:xfrm>
            <a:off x="914400" y="3508323"/>
            <a:ext cx="1868129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User Input</a:t>
            </a:r>
            <a:endParaRPr lang="en-ID" sz="20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85E760-1D68-D435-C73F-3581BEE722CE}"/>
              </a:ext>
            </a:extLst>
          </p:cNvPr>
          <p:cNvSpPr/>
          <p:nvPr/>
        </p:nvSpPr>
        <p:spPr>
          <a:xfrm>
            <a:off x="3751007" y="1998405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Struktur Kimia</a:t>
            </a:r>
            <a:endParaRPr lang="en-ID" sz="20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B86183-364A-ACD3-85E6-526FFEBE643B}"/>
              </a:ext>
            </a:extLst>
          </p:cNvPr>
          <p:cNvSpPr/>
          <p:nvPr/>
        </p:nvSpPr>
        <p:spPr>
          <a:xfrm>
            <a:off x="3751007" y="5018242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Nama Kimia</a:t>
            </a:r>
            <a:endParaRPr lang="en-ID" sz="2000" b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59FC0F-AC1F-D13D-8CC2-06843498F102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4825181" y="2685332"/>
            <a:ext cx="0" cy="233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429A26E-A140-FB98-9A0D-6F46B968D9D7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2782529" y="2341869"/>
            <a:ext cx="968478" cy="15099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28DF033-507D-9AD8-4B04-14CADF2F34BE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82529" y="3851787"/>
            <a:ext cx="968478" cy="150991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1D50308-F3CC-4A1A-F2E5-8B8CA87ECCF9}"/>
              </a:ext>
            </a:extLst>
          </p:cNvPr>
          <p:cNvSpPr/>
          <p:nvPr/>
        </p:nvSpPr>
        <p:spPr>
          <a:xfrm>
            <a:off x="3955026" y="3545861"/>
            <a:ext cx="1740309" cy="52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Ubah jadi nama</a:t>
            </a:r>
            <a:endParaRPr lang="en-ID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1193F7-A218-2B8C-3B84-EF18BE5C41C5}"/>
              </a:ext>
            </a:extLst>
          </p:cNvPr>
          <p:cNvSpPr/>
          <p:nvPr/>
        </p:nvSpPr>
        <p:spPr>
          <a:xfrm>
            <a:off x="6253316" y="5018242"/>
            <a:ext cx="3805084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Kirim ke LLM untuk cari senyawa</a:t>
            </a:r>
            <a:endParaRPr lang="en-ID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7B1F84-7731-44D9-B820-9288C291E0FA}"/>
              </a:ext>
            </a:extLst>
          </p:cNvPr>
          <p:cNvCxnSpPr>
            <a:stCxn id="10" idx="3"/>
            <a:endCxn id="24" idx="1"/>
          </p:cNvCxnSpPr>
          <p:nvPr/>
        </p:nvCxnSpPr>
        <p:spPr>
          <a:xfrm>
            <a:off x="5899355" y="5361706"/>
            <a:ext cx="353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665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2073-B04F-AB74-A373-ABE38D0FB70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63757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Proses 2:</a:t>
            </a:r>
          </a:p>
          <a:p>
            <a:r>
              <a:rPr lang="en-US" b="1"/>
              <a:t>Cari Harga Bahan Kimia</a:t>
            </a:r>
            <a:endParaRPr lang="en-ID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7E72D9-83EE-E510-8278-C8C7E5D56F97}"/>
              </a:ext>
            </a:extLst>
          </p:cNvPr>
          <p:cNvSpPr/>
          <p:nvPr/>
        </p:nvSpPr>
        <p:spPr>
          <a:xfrm>
            <a:off x="1192161" y="2532469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Nama Kimia</a:t>
            </a:r>
            <a:endParaRPr lang="en-ID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B6AE2-6561-EEE3-741F-817657C5B588}"/>
              </a:ext>
            </a:extLst>
          </p:cNvPr>
          <p:cNvSpPr/>
          <p:nvPr/>
        </p:nvSpPr>
        <p:spPr>
          <a:xfrm>
            <a:off x="1192161" y="3894899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Input ke LLM</a:t>
            </a:r>
            <a:endParaRPr lang="en-ID" sz="20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AE967A-0665-8F64-7629-4EC5BC4A281A}"/>
              </a:ext>
            </a:extLst>
          </p:cNvPr>
          <p:cNvSpPr/>
          <p:nvPr/>
        </p:nvSpPr>
        <p:spPr>
          <a:xfrm>
            <a:off x="4318818" y="3894899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RAG ke vector database</a:t>
            </a:r>
            <a:endParaRPr lang="en-ID" sz="20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53AA6C-9FA8-B856-316C-410AB1F018CA}"/>
              </a:ext>
            </a:extLst>
          </p:cNvPr>
          <p:cNvSpPr/>
          <p:nvPr/>
        </p:nvSpPr>
        <p:spPr>
          <a:xfrm>
            <a:off x="4318818" y="1877962"/>
            <a:ext cx="2148348" cy="1321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Cek ada atau engga &amp; store info ada atau enggaknya</a:t>
            </a:r>
            <a:endParaRPr lang="en-ID" sz="2000" b="1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F295E1-1329-B47A-EF69-07DBBCCB1B1C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266335" y="3219396"/>
            <a:ext cx="0" cy="675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CDC0E3-A488-F049-5E4D-04FF2963FE64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3340509" y="4238363"/>
            <a:ext cx="9783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36A64A-AB10-6EF4-8646-42351400FE6F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 flipV="1">
            <a:off x="5392992" y="3199076"/>
            <a:ext cx="0" cy="695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4CE5646-2068-9947-4A9B-8AD92AA307F7}"/>
              </a:ext>
            </a:extLst>
          </p:cNvPr>
          <p:cNvSpPr/>
          <p:nvPr/>
        </p:nvSpPr>
        <p:spPr>
          <a:xfrm>
            <a:off x="4194070" y="4787444"/>
            <a:ext cx="2397844" cy="9299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Database berisi daftar harga barang yang sudah discrape dari website </a:t>
            </a:r>
            <a:endParaRPr lang="en-ID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569CD9-0ED4-21ED-0DAD-E970384F4F40}"/>
              </a:ext>
            </a:extLst>
          </p:cNvPr>
          <p:cNvSpPr/>
          <p:nvPr/>
        </p:nvSpPr>
        <p:spPr>
          <a:xfrm>
            <a:off x="7524134" y="2189005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Lanjut ke resep reaksi</a:t>
            </a:r>
            <a:endParaRPr lang="en-ID" sz="2000" b="1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B1FAF76-EF99-FFA2-7227-3F29E97C459C}"/>
              </a:ext>
            </a:extLst>
          </p:cNvPr>
          <p:cNvCxnSpPr>
            <a:stCxn id="10" idx="3"/>
            <a:endCxn id="24" idx="1"/>
          </p:cNvCxnSpPr>
          <p:nvPr/>
        </p:nvCxnSpPr>
        <p:spPr>
          <a:xfrm flipV="1">
            <a:off x="6467166" y="2532469"/>
            <a:ext cx="1056968" cy="6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676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11B6-D30B-23CC-4B2E-F3EE1AE7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2FCB-44C7-C26D-7853-704616C6C7C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52398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Proses 3:</a:t>
            </a:r>
          </a:p>
          <a:p>
            <a:r>
              <a:rPr lang="en-US" b="1"/>
              <a:t>Cek Harga Bahan Kimia + Resep Reaksi</a:t>
            </a:r>
            <a:endParaRPr lang="en-ID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70F5B-1405-88E0-A4C9-A6F9FA001ABE}"/>
              </a:ext>
            </a:extLst>
          </p:cNvPr>
          <p:cNvSpPr/>
          <p:nvPr/>
        </p:nvSpPr>
        <p:spPr>
          <a:xfrm>
            <a:off x="1192161" y="2532469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Nama Kimia</a:t>
            </a:r>
            <a:endParaRPr lang="en-ID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3AAC9-6C1D-E66F-C8EA-69E3E5445CE1}"/>
              </a:ext>
            </a:extLst>
          </p:cNvPr>
          <p:cNvSpPr/>
          <p:nvPr/>
        </p:nvSpPr>
        <p:spPr>
          <a:xfrm>
            <a:off x="1192161" y="3894899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Input ke LLM</a:t>
            </a:r>
            <a:endParaRPr lang="en-ID" sz="20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AA9B8-CFC9-2AAA-6979-4E5444D8B0AE}"/>
              </a:ext>
            </a:extLst>
          </p:cNvPr>
          <p:cNvSpPr/>
          <p:nvPr/>
        </p:nvSpPr>
        <p:spPr>
          <a:xfrm>
            <a:off x="4318818" y="3894899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RAG ke vector database</a:t>
            </a:r>
            <a:endParaRPr lang="en-ID" sz="20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C18E79-FF6E-2439-14F6-19CD2C2965F5}"/>
              </a:ext>
            </a:extLst>
          </p:cNvPr>
          <p:cNvSpPr/>
          <p:nvPr/>
        </p:nvSpPr>
        <p:spPr>
          <a:xfrm>
            <a:off x="4318818" y="2532468"/>
            <a:ext cx="2148348" cy="666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Cek resepnya ada atau tidak</a:t>
            </a:r>
            <a:endParaRPr lang="en-ID" sz="2000" b="1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E5BACB-6FE0-03EB-9C23-CC60F571DDF5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266335" y="3219396"/>
            <a:ext cx="0" cy="675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72E156-B3FB-2F0A-DF36-92C14DC9D4F3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3340509" y="4238363"/>
            <a:ext cx="9783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7E53D1-0A55-235F-E1D2-AEAF71E8A91A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 flipV="1">
            <a:off x="5392992" y="3199075"/>
            <a:ext cx="0" cy="695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4A8EE67-7FEA-7A94-65BF-27BD9B5876B0}"/>
              </a:ext>
            </a:extLst>
          </p:cNvPr>
          <p:cNvSpPr/>
          <p:nvPr/>
        </p:nvSpPr>
        <p:spPr>
          <a:xfrm>
            <a:off x="4194070" y="4787443"/>
            <a:ext cx="2397844" cy="9991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Ato pake web scrape? Soalnya kek gak ada source central untuk resep kimia</a:t>
            </a:r>
            <a:endParaRPr lang="en-ID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F009FE-CFD9-AEEB-C858-4F830F503AE7}"/>
              </a:ext>
            </a:extLst>
          </p:cNvPr>
          <p:cNvSpPr/>
          <p:nvPr/>
        </p:nvSpPr>
        <p:spPr>
          <a:xfrm>
            <a:off x="7150508" y="1449329"/>
            <a:ext cx="1039763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Ada</a:t>
            </a:r>
            <a:endParaRPr lang="en-ID" sz="20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C89F70-CCD3-A039-71C6-9F2C7AA1552D}"/>
              </a:ext>
            </a:extLst>
          </p:cNvPr>
          <p:cNvSpPr/>
          <p:nvPr/>
        </p:nvSpPr>
        <p:spPr>
          <a:xfrm>
            <a:off x="8787581" y="1443085"/>
            <a:ext cx="2902974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Cek harga tiap bahan kimia yang terlibat</a:t>
            </a:r>
            <a:endParaRPr lang="en-ID" sz="2000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9F65F8-A6A2-ED03-5B99-7E1BB197BD56}"/>
              </a:ext>
            </a:extLst>
          </p:cNvPr>
          <p:cNvSpPr/>
          <p:nvPr/>
        </p:nvSpPr>
        <p:spPr>
          <a:xfrm>
            <a:off x="7115480" y="3905058"/>
            <a:ext cx="1074791" cy="666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Tidak</a:t>
            </a:r>
            <a:endParaRPr lang="en-ID" sz="2000" b="1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188D6EE-C3B3-65E5-9DC4-9F1598AEC548}"/>
              </a:ext>
            </a:extLst>
          </p:cNvPr>
          <p:cNvCxnSpPr>
            <a:stCxn id="10" idx="3"/>
            <a:endCxn id="24" idx="1"/>
          </p:cNvCxnSpPr>
          <p:nvPr/>
        </p:nvCxnSpPr>
        <p:spPr>
          <a:xfrm flipV="1">
            <a:off x="6467166" y="1792793"/>
            <a:ext cx="683342" cy="10729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9EB8057-C7D6-4A79-A92B-06E0F5113B25}"/>
              </a:ext>
            </a:extLst>
          </p:cNvPr>
          <p:cNvCxnSpPr>
            <a:stCxn id="10" idx="3"/>
            <a:endCxn id="17" idx="1"/>
          </p:cNvCxnSpPr>
          <p:nvPr/>
        </p:nvCxnSpPr>
        <p:spPr>
          <a:xfrm>
            <a:off x="6467166" y="2865772"/>
            <a:ext cx="648314" cy="1372590"/>
          </a:xfrm>
          <a:prstGeom prst="bentConnector3">
            <a:avLst>
              <a:gd name="adj1" fmla="val 530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95903E-BBD8-335E-77BE-8D0A0F844E7C}"/>
              </a:ext>
            </a:extLst>
          </p:cNvPr>
          <p:cNvCxnSpPr>
            <a:stCxn id="24" idx="3"/>
            <a:endCxn id="12" idx="1"/>
          </p:cNvCxnSpPr>
          <p:nvPr/>
        </p:nvCxnSpPr>
        <p:spPr>
          <a:xfrm flipV="1">
            <a:off x="8190271" y="1786549"/>
            <a:ext cx="597310" cy="6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D2E2B93-CD1B-C682-5B23-A71A918F4850}"/>
              </a:ext>
            </a:extLst>
          </p:cNvPr>
          <p:cNvSpPr/>
          <p:nvPr/>
        </p:nvSpPr>
        <p:spPr>
          <a:xfrm>
            <a:off x="9169656" y="3885060"/>
            <a:ext cx="2138824" cy="666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Lanjut ke model prediksi resep</a:t>
            </a:r>
            <a:endParaRPr lang="en-ID" sz="2000" b="1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55FDDDB-ADC8-0B04-39B2-E95BD2648C2C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 flipV="1">
            <a:off x="8190271" y="4218364"/>
            <a:ext cx="979385" cy="19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F3029E1-02DC-40A2-1095-A04D75C87060}"/>
              </a:ext>
            </a:extLst>
          </p:cNvPr>
          <p:cNvSpPr/>
          <p:nvPr/>
        </p:nvSpPr>
        <p:spPr>
          <a:xfrm>
            <a:off x="8787580" y="2400798"/>
            <a:ext cx="2902973" cy="9299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Kalau sudah ada resepnya, tidak perlu diprediksi lagi</a:t>
            </a:r>
            <a:endParaRPr lang="en-ID" sz="1600"/>
          </a:p>
        </p:txBody>
      </p:sp>
    </p:spTree>
    <p:extLst>
      <p:ext uri="{BB962C8B-B14F-4D97-AF65-F5344CB8AC3E}">
        <p14:creationId xmlns:p14="http://schemas.microsoft.com/office/powerpoint/2010/main" val="2537499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7C0DF-F4F2-3D08-E7BE-BF1212FF2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B35C-EDD0-152F-DE2B-3EC99C4E846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Proses 4:</a:t>
            </a:r>
          </a:p>
          <a:p>
            <a:r>
              <a:rPr lang="en-US" b="1"/>
              <a:t>Model Prediksi Resep Reaksi</a:t>
            </a:r>
            <a:endParaRPr lang="en-ID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62561-E542-CDB0-107E-AAC3D34A0A8A}"/>
              </a:ext>
            </a:extLst>
          </p:cNvPr>
          <p:cNvSpPr/>
          <p:nvPr/>
        </p:nvSpPr>
        <p:spPr>
          <a:xfrm>
            <a:off x="3492909" y="2247334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Nama Kimia</a:t>
            </a:r>
            <a:endParaRPr lang="en-ID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91FA97-CC1E-D4FA-638D-DF06162562BD}"/>
              </a:ext>
            </a:extLst>
          </p:cNvPr>
          <p:cNvSpPr/>
          <p:nvPr/>
        </p:nvSpPr>
        <p:spPr>
          <a:xfrm>
            <a:off x="3492909" y="3609764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Konversi ke struktur</a:t>
            </a:r>
            <a:endParaRPr lang="en-ID" sz="20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D1A9F6-C6C2-C579-984D-3121D44632AA}"/>
              </a:ext>
            </a:extLst>
          </p:cNvPr>
          <p:cNvSpPr/>
          <p:nvPr/>
        </p:nvSpPr>
        <p:spPr>
          <a:xfrm>
            <a:off x="6619566" y="3609764"/>
            <a:ext cx="2148348" cy="686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Input ke model prediksi resep</a:t>
            </a:r>
            <a:endParaRPr lang="en-ID" sz="20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11F566-ABE5-57B3-66BC-8C45288D2178}"/>
              </a:ext>
            </a:extLst>
          </p:cNvPr>
          <p:cNvSpPr/>
          <p:nvPr/>
        </p:nvSpPr>
        <p:spPr>
          <a:xfrm>
            <a:off x="6619566" y="1785885"/>
            <a:ext cx="2148348" cy="1128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Cek harga tiap bahan kimia yang terlibat</a:t>
            </a:r>
            <a:endParaRPr lang="en-ID" sz="2000" b="1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221C03-7455-E016-5BAE-8D745487DC8B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567083" y="2934261"/>
            <a:ext cx="0" cy="675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E42D6D-7D0E-127C-6BD1-553DF60009A5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5641257" y="3953228"/>
            <a:ext cx="9783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2A8C7F-51EC-E1ED-0C06-7703C7950A79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 flipV="1">
            <a:off x="7693740" y="2913941"/>
            <a:ext cx="0" cy="695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48CFBD8-FFC7-406C-D1B3-A290B8D50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188" y="4512141"/>
            <a:ext cx="1565789" cy="148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40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92BDC-8BC0-198C-312A-58E956F8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23F8-96AA-7DC1-5B93-60160BCE9B8B}"/>
              </a:ext>
            </a:extLst>
          </p:cNvPr>
          <p:cNvSpPr txBox="1">
            <a:spLocks/>
          </p:cNvSpPr>
          <p:nvPr/>
        </p:nvSpPr>
        <p:spPr>
          <a:xfrm>
            <a:off x="838200" y="501107"/>
            <a:ext cx="10515600" cy="68692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Price Summary</a:t>
            </a:r>
            <a:endParaRPr lang="en-ID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60524B-C096-BE14-142C-E83EA1B87F0D}"/>
              </a:ext>
            </a:extLst>
          </p:cNvPr>
          <p:cNvSpPr/>
          <p:nvPr/>
        </p:nvSpPr>
        <p:spPr>
          <a:xfrm>
            <a:off x="838200" y="2048689"/>
            <a:ext cx="1986116" cy="88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dari harga barang kimia</a:t>
            </a:r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9EDA3-FA3F-BBC0-2796-C24F059D9CEB}"/>
              </a:ext>
            </a:extLst>
          </p:cNvPr>
          <p:cNvSpPr/>
          <p:nvPr/>
        </p:nvSpPr>
        <p:spPr>
          <a:xfrm>
            <a:off x="838200" y="3425874"/>
            <a:ext cx="1986116" cy="88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dari harga barang kimia + resep reaksi</a:t>
            </a:r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41FE7-3CB7-AE93-A3C8-BBB6797D648F}"/>
              </a:ext>
            </a:extLst>
          </p:cNvPr>
          <p:cNvSpPr/>
          <p:nvPr/>
        </p:nvSpPr>
        <p:spPr>
          <a:xfrm>
            <a:off x="838200" y="4803058"/>
            <a:ext cx="1986116" cy="88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dari harga barang kimia + resep reaksi</a:t>
            </a:r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401A84-25B7-7711-F6E5-0888CDBEAEEA}"/>
              </a:ext>
            </a:extLst>
          </p:cNvPr>
          <p:cNvSpPr/>
          <p:nvPr/>
        </p:nvSpPr>
        <p:spPr>
          <a:xfrm>
            <a:off x="4001729" y="1311937"/>
            <a:ext cx="7352071" cy="51127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1FC9EA-4242-B3A9-6CCA-AACCB969E82A}"/>
              </a:ext>
            </a:extLst>
          </p:cNvPr>
          <p:cNvSpPr/>
          <p:nvPr/>
        </p:nvSpPr>
        <p:spPr>
          <a:xfrm>
            <a:off x="4247536" y="1439757"/>
            <a:ext cx="2261420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Summary</a:t>
            </a:r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7F21F-27B7-5DD7-F3C5-189E385E00F8}"/>
              </a:ext>
            </a:extLst>
          </p:cNvPr>
          <p:cNvSpPr/>
          <p:nvPr/>
        </p:nvSpPr>
        <p:spPr>
          <a:xfrm>
            <a:off x="4247536" y="1921538"/>
            <a:ext cx="1465007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/>
              <a:t>Chemical Name</a:t>
            </a:r>
            <a:endParaRPr lang="en-ID" sz="14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38F3185-48D9-0965-1A69-7DD80F8FD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105" y="1523553"/>
            <a:ext cx="1565789" cy="14844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60A16DC-CA95-852F-EAC5-DDE17E9BB009}"/>
              </a:ext>
            </a:extLst>
          </p:cNvPr>
          <p:cNvSpPr txBox="1"/>
          <p:nvPr/>
        </p:nvSpPr>
        <p:spPr>
          <a:xfrm>
            <a:off x="5761707" y="1906168"/>
            <a:ext cx="256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Topiramate</a:t>
            </a:r>
            <a:endParaRPr lang="en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5AC02F-02E0-B8E2-429F-3F16984C8F1E}"/>
              </a:ext>
            </a:extLst>
          </p:cNvPr>
          <p:cNvSpPr/>
          <p:nvPr/>
        </p:nvSpPr>
        <p:spPr>
          <a:xfrm>
            <a:off x="4247536" y="2698950"/>
            <a:ext cx="2880852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Availability in the Market</a:t>
            </a:r>
            <a:endParaRPr lang="en-ID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E69FA2-881A-80F5-1053-ADBD090125F8}"/>
              </a:ext>
            </a:extLst>
          </p:cNvPr>
          <p:cNvSpPr/>
          <p:nvPr/>
        </p:nvSpPr>
        <p:spPr>
          <a:xfrm>
            <a:off x="4247535" y="4219998"/>
            <a:ext cx="5948517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Established Synthesis Route</a:t>
            </a:r>
            <a:endParaRPr lang="en-ID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E09914-7D3E-60D8-D87D-DD18DAA85753}"/>
              </a:ext>
            </a:extLst>
          </p:cNvPr>
          <p:cNvSpPr/>
          <p:nvPr/>
        </p:nvSpPr>
        <p:spPr>
          <a:xfrm>
            <a:off x="4247536" y="4682777"/>
            <a:ext cx="5299588" cy="5227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Recipe figure</a:t>
            </a:r>
            <a:endParaRPr lang="en-ID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0A18805-3815-765E-85AF-0B3EA61C9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604954"/>
              </p:ext>
            </p:extLst>
          </p:nvPr>
        </p:nvGraphicFramePr>
        <p:xfrm>
          <a:off x="4247536" y="3135821"/>
          <a:ext cx="4788309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542">
                  <a:extLst>
                    <a:ext uri="{9D8B030D-6E8A-4147-A177-3AD203B41FA5}">
                      <a16:colId xmlns:a16="http://schemas.microsoft.com/office/drawing/2014/main" val="1624269228"/>
                    </a:ext>
                  </a:extLst>
                </a:gridCol>
                <a:gridCol w="2534427">
                  <a:extLst>
                    <a:ext uri="{9D8B030D-6E8A-4147-A177-3AD203B41FA5}">
                      <a16:colId xmlns:a16="http://schemas.microsoft.com/office/drawing/2014/main" val="1198061650"/>
                    </a:ext>
                  </a:extLst>
                </a:gridCol>
                <a:gridCol w="1113340">
                  <a:extLst>
                    <a:ext uri="{9D8B030D-6E8A-4147-A177-3AD203B41FA5}">
                      <a16:colId xmlns:a16="http://schemas.microsoft.com/office/drawing/2014/main" val="2809688829"/>
                    </a:ext>
                  </a:extLst>
                </a:gridCol>
              </a:tblGrid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Source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Price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Link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803563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Sigma – Aldrich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 AUD / g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61747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Thermo Fisher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 AUD / g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231708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Etc.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389356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925D0BB-2879-1907-8F24-66D63088C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999885"/>
              </p:ext>
            </p:extLst>
          </p:nvPr>
        </p:nvGraphicFramePr>
        <p:xfrm>
          <a:off x="4247535" y="5314330"/>
          <a:ext cx="5299589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879">
                  <a:extLst>
                    <a:ext uri="{9D8B030D-6E8A-4147-A177-3AD203B41FA5}">
                      <a16:colId xmlns:a16="http://schemas.microsoft.com/office/drawing/2014/main" val="1624269228"/>
                    </a:ext>
                  </a:extLst>
                </a:gridCol>
                <a:gridCol w="2359742">
                  <a:extLst>
                    <a:ext uri="{9D8B030D-6E8A-4147-A177-3AD203B41FA5}">
                      <a16:colId xmlns:a16="http://schemas.microsoft.com/office/drawing/2014/main" val="3253413552"/>
                    </a:ext>
                  </a:extLst>
                </a:gridCol>
                <a:gridCol w="823793">
                  <a:extLst>
                    <a:ext uri="{9D8B030D-6E8A-4147-A177-3AD203B41FA5}">
                      <a16:colId xmlns:a16="http://schemas.microsoft.com/office/drawing/2014/main" val="1198061650"/>
                    </a:ext>
                  </a:extLst>
                </a:gridCol>
                <a:gridCol w="995175">
                  <a:extLst>
                    <a:ext uri="{9D8B030D-6E8A-4147-A177-3AD203B41FA5}">
                      <a16:colId xmlns:a16="http://schemas.microsoft.com/office/drawing/2014/main" val="2809688829"/>
                    </a:ext>
                  </a:extLst>
                </a:gridCol>
              </a:tblGrid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Material Name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Source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Price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Link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803563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Toluene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Sigma – Aldrich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 AUD / g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61747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Toluene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Thermo Fisher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2.3 AUD / g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231708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KOH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Etc.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389356"/>
                  </a:ext>
                </a:extLst>
              </a:tr>
            </a:tbl>
          </a:graphicData>
        </a:graphic>
      </p:graphicFrame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9ACC60E-5287-CC69-F3B1-341DC47205A3}"/>
              </a:ext>
            </a:extLst>
          </p:cNvPr>
          <p:cNvCxnSpPr>
            <a:stCxn id="3" idx="3"/>
            <a:endCxn id="16" idx="1"/>
          </p:cNvCxnSpPr>
          <p:nvPr/>
        </p:nvCxnSpPr>
        <p:spPr>
          <a:xfrm>
            <a:off x="2824316" y="2491141"/>
            <a:ext cx="1177413" cy="13771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471774DF-F6D2-ABE1-4380-BF41FB0AC039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 flipV="1">
            <a:off x="2824316" y="3868325"/>
            <a:ext cx="1177413" cy="13771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B1A423E-5601-D06F-CEE9-9A3D605AA236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2824316" y="3868325"/>
            <a:ext cx="117741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431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E34F-5BB1-C20D-1075-EA5DE2B8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4C422-04C7-D67E-DF12-DB77921E784A}"/>
              </a:ext>
            </a:extLst>
          </p:cNvPr>
          <p:cNvSpPr txBox="1">
            <a:spLocks/>
          </p:cNvSpPr>
          <p:nvPr/>
        </p:nvSpPr>
        <p:spPr>
          <a:xfrm>
            <a:off x="356419" y="132383"/>
            <a:ext cx="10282084" cy="514353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/>
              <a:t>Alternative Summary</a:t>
            </a:r>
            <a:endParaRPr lang="en-ID" sz="3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EAE92-A047-8AD6-9231-10E003B24FF5}"/>
              </a:ext>
            </a:extLst>
          </p:cNvPr>
          <p:cNvSpPr/>
          <p:nvPr/>
        </p:nvSpPr>
        <p:spPr>
          <a:xfrm>
            <a:off x="582561" y="646736"/>
            <a:ext cx="7352071" cy="60788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1B22DF-B733-4DB5-FE55-8323383082BD}"/>
              </a:ext>
            </a:extLst>
          </p:cNvPr>
          <p:cNvSpPr/>
          <p:nvPr/>
        </p:nvSpPr>
        <p:spPr>
          <a:xfrm>
            <a:off x="828368" y="774557"/>
            <a:ext cx="2261420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Summary</a:t>
            </a:r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FCAA51-76ED-1078-B784-CBD5F0D7B812}"/>
              </a:ext>
            </a:extLst>
          </p:cNvPr>
          <p:cNvSpPr/>
          <p:nvPr/>
        </p:nvSpPr>
        <p:spPr>
          <a:xfrm>
            <a:off x="828368" y="1256338"/>
            <a:ext cx="1465007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/>
              <a:t>Chemical Name</a:t>
            </a:r>
            <a:endParaRPr lang="en-ID" sz="14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4661F1-E044-3058-2E92-B13BF56B2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37" y="858353"/>
            <a:ext cx="1565789" cy="14844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1BA8139-3FEF-6ED6-55B3-30095CC307DC}"/>
              </a:ext>
            </a:extLst>
          </p:cNvPr>
          <p:cNvSpPr txBox="1"/>
          <p:nvPr/>
        </p:nvSpPr>
        <p:spPr>
          <a:xfrm>
            <a:off x="2342539" y="1240968"/>
            <a:ext cx="256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Topiramate</a:t>
            </a:r>
            <a:endParaRPr lang="en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FECBEC-DDAD-0CE7-DC6F-EADE13E67D8D}"/>
              </a:ext>
            </a:extLst>
          </p:cNvPr>
          <p:cNvSpPr/>
          <p:nvPr/>
        </p:nvSpPr>
        <p:spPr>
          <a:xfrm>
            <a:off x="828368" y="2033750"/>
            <a:ext cx="2880852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Availability in the Market</a:t>
            </a:r>
            <a:endParaRPr lang="en-ID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8314B3-5B98-FB20-DA84-EC60EF109EDC}"/>
              </a:ext>
            </a:extLst>
          </p:cNvPr>
          <p:cNvSpPr/>
          <p:nvPr/>
        </p:nvSpPr>
        <p:spPr>
          <a:xfrm>
            <a:off x="828366" y="3322067"/>
            <a:ext cx="5948517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Established Synthesis Route</a:t>
            </a:r>
            <a:endParaRPr lang="en-ID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47459F-1035-FF86-FCF9-69A0984D7E28}"/>
              </a:ext>
            </a:extLst>
          </p:cNvPr>
          <p:cNvSpPr/>
          <p:nvPr/>
        </p:nvSpPr>
        <p:spPr>
          <a:xfrm>
            <a:off x="828368" y="3838111"/>
            <a:ext cx="3802625" cy="5227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It seems there is no established synthesis route for this compound</a:t>
            </a:r>
            <a:endParaRPr lang="en-ID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5BDC160-9180-7CCE-2B7C-B547ADB07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277866"/>
              </p:ext>
            </p:extLst>
          </p:nvPr>
        </p:nvGraphicFramePr>
        <p:xfrm>
          <a:off x="828364" y="5628052"/>
          <a:ext cx="5299589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879">
                  <a:extLst>
                    <a:ext uri="{9D8B030D-6E8A-4147-A177-3AD203B41FA5}">
                      <a16:colId xmlns:a16="http://schemas.microsoft.com/office/drawing/2014/main" val="1624269228"/>
                    </a:ext>
                  </a:extLst>
                </a:gridCol>
                <a:gridCol w="2359742">
                  <a:extLst>
                    <a:ext uri="{9D8B030D-6E8A-4147-A177-3AD203B41FA5}">
                      <a16:colId xmlns:a16="http://schemas.microsoft.com/office/drawing/2014/main" val="3253413552"/>
                    </a:ext>
                  </a:extLst>
                </a:gridCol>
                <a:gridCol w="823793">
                  <a:extLst>
                    <a:ext uri="{9D8B030D-6E8A-4147-A177-3AD203B41FA5}">
                      <a16:colId xmlns:a16="http://schemas.microsoft.com/office/drawing/2014/main" val="1198061650"/>
                    </a:ext>
                  </a:extLst>
                </a:gridCol>
                <a:gridCol w="995175">
                  <a:extLst>
                    <a:ext uri="{9D8B030D-6E8A-4147-A177-3AD203B41FA5}">
                      <a16:colId xmlns:a16="http://schemas.microsoft.com/office/drawing/2014/main" val="2809688829"/>
                    </a:ext>
                  </a:extLst>
                </a:gridCol>
              </a:tblGrid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Material Name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Source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Price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Link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803563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Toluene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Sigma – Aldrich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 AUD / g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61747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Toluene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Thermo Fisher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2.3 AUD / g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231708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r>
                        <a:rPr lang="en-US" sz="1000"/>
                        <a:t>KOH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Etc.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…</a:t>
                      </a:r>
                      <a:endParaRPr lang="en-I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38935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673746D-75D3-182B-D41B-50078DA67C6F}"/>
              </a:ext>
            </a:extLst>
          </p:cNvPr>
          <p:cNvSpPr/>
          <p:nvPr/>
        </p:nvSpPr>
        <p:spPr>
          <a:xfrm>
            <a:off x="828368" y="2626758"/>
            <a:ext cx="3802625" cy="5227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/>
              <a:t>It seems like the compound is not available in the market yet…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41E4AC-2B96-C39F-DC35-89DB1B358C26}"/>
              </a:ext>
            </a:extLst>
          </p:cNvPr>
          <p:cNvSpPr/>
          <p:nvPr/>
        </p:nvSpPr>
        <p:spPr>
          <a:xfrm>
            <a:off x="828365" y="4551260"/>
            <a:ext cx="5948517" cy="35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Predicted Synthesis Route</a:t>
            </a:r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D8545C-DCAF-3078-1ED8-4ACAC62126AB}"/>
              </a:ext>
            </a:extLst>
          </p:cNvPr>
          <p:cNvSpPr/>
          <p:nvPr/>
        </p:nvSpPr>
        <p:spPr>
          <a:xfrm>
            <a:off x="828365" y="5033041"/>
            <a:ext cx="5299588" cy="5227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Recipe figure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491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D086-9ED4-7264-7CCC-D967FBD58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B2E6-475D-0671-E6CB-D641FCC2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317" y="2653839"/>
            <a:ext cx="6001365" cy="1550322"/>
          </a:xfrm>
        </p:spPr>
        <p:txBody>
          <a:bodyPr>
            <a:noAutofit/>
          </a:bodyPr>
          <a:lstStyle/>
          <a:p>
            <a:pPr algn="ctr"/>
            <a:r>
              <a:rPr lang="en-US" sz="5400" b="1"/>
              <a:t>Kompetitor</a:t>
            </a:r>
            <a:endParaRPr lang="en-ID" sz="5400" b="1"/>
          </a:p>
        </p:txBody>
      </p:sp>
    </p:spTree>
    <p:extLst>
      <p:ext uri="{BB962C8B-B14F-4D97-AF65-F5344CB8AC3E}">
        <p14:creationId xmlns:p14="http://schemas.microsoft.com/office/powerpoint/2010/main" val="3652892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A93FC1-C532-0B1A-5D99-2FE33202793B}"/>
              </a:ext>
            </a:extLst>
          </p:cNvPr>
          <p:cNvSpPr txBox="1">
            <a:spLocks/>
          </p:cNvSpPr>
          <p:nvPr/>
        </p:nvSpPr>
        <p:spPr>
          <a:xfrm>
            <a:off x="838200" y="486697"/>
            <a:ext cx="10515600" cy="588604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Ternyata ada yang mirip kek kita haha, tapi ini di market Jepang</a:t>
            </a:r>
            <a:endParaRPr lang="en-ID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19AAF-C5F1-BA50-A680-2119D7E96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893" y="1335785"/>
            <a:ext cx="6269327" cy="392541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4C03BF1-194D-D692-0053-894B34C7E6BE}"/>
              </a:ext>
            </a:extLst>
          </p:cNvPr>
          <p:cNvSpPr txBox="1">
            <a:spLocks/>
          </p:cNvSpPr>
          <p:nvPr/>
        </p:nvSpPr>
        <p:spPr>
          <a:xfrm>
            <a:off x="705464" y="5683044"/>
            <a:ext cx="10515600" cy="58860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/>
              <a:t>Namanya ChemCupid</a:t>
            </a:r>
            <a:endParaRPr lang="en-ID" sz="2400" b="1"/>
          </a:p>
        </p:txBody>
      </p:sp>
    </p:spTree>
    <p:extLst>
      <p:ext uri="{BB962C8B-B14F-4D97-AF65-F5344CB8AC3E}">
        <p14:creationId xmlns:p14="http://schemas.microsoft.com/office/powerpoint/2010/main" val="336362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748</Words>
  <Application>Microsoft Office PowerPoint</Application>
  <PresentationFormat>Widescreen</PresentationFormat>
  <Paragraphs>187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Prototype for Chemical Price Checker Agent</vt:lpstr>
      <vt:lpstr>Goal</vt:lpstr>
      <vt:lpstr>PowerPoint Presentation</vt:lpstr>
      <vt:lpstr>Summary Website Chemical Seller</vt:lpstr>
      <vt:lpstr>Sumber Data untuk Harga Bahan Kimia (International)</vt:lpstr>
      <vt:lpstr>Sumber Data untuk Harga Bahan Kimia (International)</vt:lpstr>
      <vt:lpstr>Sumber Data untuk Harga Bahan Kimia (International)</vt:lpstr>
      <vt:lpstr>Sumber Data untuk Harga Bahan Kimia (International)</vt:lpstr>
      <vt:lpstr>Sumber Data untuk Harga Bahan Kimia (China)</vt:lpstr>
      <vt:lpstr>Sumber Data untuk Harga Bahan Kimia (China)</vt:lpstr>
      <vt:lpstr>Sumber Data untuk Harga Bahan Kimia (Japan)</vt:lpstr>
      <vt:lpstr>Sumber Data untuk Harga Bahan Kimia (Switzerland)</vt:lpstr>
      <vt:lpstr>Sumber Data untuk Harga Bahan Kimia (U.S.A.)</vt:lpstr>
      <vt:lpstr>Sumber Data untuk Harga Bahan Kimia (U.S.A.)</vt:lpstr>
      <vt:lpstr>Sumber Data untuk Harga Bahan Kimia (China)</vt:lpstr>
      <vt:lpstr>Detailed Workflow Description</vt:lpstr>
      <vt:lpstr>Proses 1: Input Data Kimia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Kompetitor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Brahms</dc:creator>
  <cp:lastModifiedBy>Andrew Brahms</cp:lastModifiedBy>
  <cp:revision>10</cp:revision>
  <dcterms:created xsi:type="dcterms:W3CDTF">2026-10-16T00:46:25Z</dcterms:created>
  <dcterms:modified xsi:type="dcterms:W3CDTF">2026-10-18T01:24:08Z</dcterms:modified>
</cp:coreProperties>
</file>